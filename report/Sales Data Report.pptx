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9AAD3-BDC1-7468-C84A-6AD7E2C13F5D}" v="115" dt="2025-12-13T12:13:57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12:09:58.3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12:11:29.2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12:12:51.8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43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76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18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9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6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8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7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7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4F87819-B70D-4927-B657-7D175613F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B3820D-C773-4632-9F79-C890E1B2B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177668"/>
          </a:xfrm>
          <a:custGeom>
            <a:avLst/>
            <a:gdLst>
              <a:gd name="connsiteX0" fmla="*/ 6861986 w 12191999"/>
              <a:gd name="connsiteY0" fmla="*/ 6107659 h 6177668"/>
              <a:gd name="connsiteX1" fmla="*/ 6860986 w 12191999"/>
              <a:gd name="connsiteY1" fmla="*/ 6107739 h 6177668"/>
              <a:gd name="connsiteX2" fmla="*/ 6860759 w 12191999"/>
              <a:gd name="connsiteY2" fmla="*/ 6108287 h 6177668"/>
              <a:gd name="connsiteX3" fmla="*/ 0 w 12191999"/>
              <a:gd name="connsiteY3" fmla="*/ 0 h 6177668"/>
              <a:gd name="connsiteX4" fmla="*/ 12191999 w 12191999"/>
              <a:gd name="connsiteY4" fmla="*/ 0 h 6177668"/>
              <a:gd name="connsiteX5" fmla="*/ 12191999 w 12191999"/>
              <a:gd name="connsiteY5" fmla="*/ 5215324 h 6177668"/>
              <a:gd name="connsiteX6" fmla="*/ 12144282 w 12191999"/>
              <a:gd name="connsiteY6" fmla="*/ 5229900 h 6177668"/>
              <a:gd name="connsiteX7" fmla="*/ 11759192 w 12191999"/>
              <a:gd name="connsiteY7" fmla="*/ 5336208 h 6177668"/>
              <a:gd name="connsiteX8" fmla="*/ 10505159 w 12191999"/>
              <a:gd name="connsiteY8" fmla="*/ 5627228 h 6177668"/>
              <a:gd name="connsiteX9" fmla="*/ 9501755 w 12191999"/>
              <a:gd name="connsiteY9" fmla="*/ 5807012 h 6177668"/>
              <a:gd name="connsiteX10" fmla="*/ 8534155 w 12191999"/>
              <a:gd name="connsiteY10" fmla="*/ 5944240 h 6177668"/>
              <a:gd name="connsiteX11" fmla="*/ 7790171 w 12191999"/>
              <a:gd name="connsiteY11" fmla="*/ 6026297 h 6177668"/>
              <a:gd name="connsiteX12" fmla="*/ 7024337 w 12191999"/>
              <a:gd name="connsiteY12" fmla="*/ 6093812 h 6177668"/>
              <a:gd name="connsiteX13" fmla="*/ 7008892 w 12191999"/>
              <a:gd name="connsiteY13" fmla="*/ 6095938 h 6177668"/>
              <a:gd name="connsiteX14" fmla="*/ 6862735 w 12191999"/>
              <a:gd name="connsiteY14" fmla="*/ 6107599 h 6177668"/>
              <a:gd name="connsiteX15" fmla="*/ 6872248 w 12191999"/>
              <a:gd name="connsiteY15" fmla="*/ 6109467 h 6177668"/>
              <a:gd name="connsiteX16" fmla="*/ 6907812 w 12191999"/>
              <a:gd name="connsiteY16" fmla="*/ 6107715 h 6177668"/>
              <a:gd name="connsiteX17" fmla="*/ 6956484 w 12191999"/>
              <a:gd name="connsiteY17" fmla="*/ 6104658 h 6177668"/>
              <a:gd name="connsiteX18" fmla="*/ 7652688 w 12191999"/>
              <a:gd name="connsiteY18" fmla="*/ 6071273 h 6177668"/>
              <a:gd name="connsiteX19" fmla="*/ 8699923 w 12191999"/>
              <a:gd name="connsiteY19" fmla="*/ 5982083 h 6177668"/>
              <a:gd name="connsiteX20" fmla="*/ 9557819 w 12191999"/>
              <a:gd name="connsiteY20" fmla="*/ 5875435 h 6177668"/>
              <a:gd name="connsiteX21" fmla="*/ 10709534 w 12191999"/>
              <a:gd name="connsiteY21" fmla="*/ 5676156 h 6177668"/>
              <a:gd name="connsiteX22" fmla="*/ 12081554 w 12191999"/>
              <a:gd name="connsiteY22" fmla="*/ 5341561 h 6177668"/>
              <a:gd name="connsiteX23" fmla="*/ 12191999 w 12191999"/>
              <a:gd name="connsiteY23" fmla="*/ 5308238 h 6177668"/>
              <a:gd name="connsiteX24" fmla="*/ 12191999 w 12191999"/>
              <a:gd name="connsiteY24" fmla="*/ 5364054 h 6177668"/>
              <a:gd name="connsiteX25" fmla="*/ 11911964 w 12191999"/>
              <a:gd name="connsiteY25" fmla="*/ 5447316 h 6177668"/>
              <a:gd name="connsiteX26" fmla="*/ 11020049 w 12191999"/>
              <a:gd name="connsiteY26" fmla="*/ 5667491 h 6177668"/>
              <a:gd name="connsiteX27" fmla="*/ 10064425 w 12191999"/>
              <a:gd name="connsiteY27" fmla="*/ 5852245 h 6177668"/>
              <a:gd name="connsiteX28" fmla="*/ 9264124 w 12191999"/>
              <a:gd name="connsiteY28" fmla="*/ 5971252 h 6177668"/>
              <a:gd name="connsiteX29" fmla="*/ 8654182 w 12191999"/>
              <a:gd name="connsiteY29" fmla="*/ 6042605 h 6177668"/>
              <a:gd name="connsiteX30" fmla="*/ 7938866 w 12191999"/>
              <a:gd name="connsiteY30" fmla="*/ 6105677 h 6177668"/>
              <a:gd name="connsiteX31" fmla="*/ 7008089 w 12191999"/>
              <a:gd name="connsiteY31" fmla="*/ 6158427 h 6177668"/>
              <a:gd name="connsiteX32" fmla="*/ 6549390 w 12191999"/>
              <a:gd name="connsiteY32" fmla="*/ 6172697 h 6177668"/>
              <a:gd name="connsiteX33" fmla="*/ 6433696 w 12191999"/>
              <a:gd name="connsiteY33" fmla="*/ 6177668 h 6177668"/>
              <a:gd name="connsiteX34" fmla="*/ 6127899 w 12191999"/>
              <a:gd name="connsiteY34" fmla="*/ 6177668 h 6177668"/>
              <a:gd name="connsiteX35" fmla="*/ 6048391 w 12191999"/>
              <a:gd name="connsiteY35" fmla="*/ 6172953 h 6177668"/>
              <a:gd name="connsiteX36" fmla="*/ 5334221 w 12191999"/>
              <a:gd name="connsiteY36" fmla="*/ 6135747 h 6177668"/>
              <a:gd name="connsiteX37" fmla="*/ 4413510 w 12191999"/>
              <a:gd name="connsiteY37" fmla="*/ 6072039 h 6177668"/>
              <a:gd name="connsiteX38" fmla="*/ 3438265 w 12191999"/>
              <a:gd name="connsiteY38" fmla="*/ 5970870 h 6177668"/>
              <a:gd name="connsiteX39" fmla="*/ 2425303 w 12191999"/>
              <a:gd name="connsiteY39" fmla="*/ 5848805 h 6177668"/>
              <a:gd name="connsiteX40" fmla="*/ 1293973 w 12191999"/>
              <a:gd name="connsiteY40" fmla="*/ 5671060 h 6177668"/>
              <a:gd name="connsiteX41" fmla="*/ 126888 w 12191999"/>
              <a:gd name="connsiteY41" fmla="*/ 5425029 h 6177668"/>
              <a:gd name="connsiteX42" fmla="*/ 0 w 12191999"/>
              <a:gd name="connsiteY42" fmla="*/ 5392100 h 6177668"/>
              <a:gd name="connsiteX43" fmla="*/ 0 w 12191999"/>
              <a:gd name="connsiteY43" fmla="*/ 5333771 h 6177668"/>
              <a:gd name="connsiteX44" fmla="*/ 130837 w 12191999"/>
              <a:gd name="connsiteY44" fmla="*/ 5368509 h 6177668"/>
              <a:gd name="connsiteX45" fmla="*/ 660204 w 12191999"/>
              <a:gd name="connsiteY45" fmla="*/ 5490001 h 6177668"/>
              <a:gd name="connsiteX46" fmla="*/ 1831416 w 12191999"/>
              <a:gd name="connsiteY46" fmla="*/ 5705715 h 6177668"/>
              <a:gd name="connsiteX47" fmla="*/ 2677204 w 12191999"/>
              <a:gd name="connsiteY47" fmla="*/ 5825742 h 6177668"/>
              <a:gd name="connsiteX48" fmla="*/ 2644716 w 12191999"/>
              <a:gd name="connsiteY48" fmla="*/ 5815549 h 6177668"/>
              <a:gd name="connsiteX49" fmla="*/ 1173182 w 12191999"/>
              <a:gd name="connsiteY49" fmla="*/ 5474074 h 6177668"/>
              <a:gd name="connsiteX50" fmla="*/ 479527 w 12191999"/>
              <a:gd name="connsiteY50" fmla="*/ 5269379 h 6177668"/>
              <a:gd name="connsiteX51" fmla="*/ 0 w 12191999"/>
              <a:gd name="connsiteY51" fmla="*/ 5107083 h 617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939BF-60D9-9AF4-2890-65373E0DD2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26819" r="-2" b="-2"/>
          <a:stretch>
            <a:fillRect/>
          </a:stretch>
        </p:blipFill>
        <p:spPr>
          <a:xfrm>
            <a:off x="20" y="10"/>
            <a:ext cx="12191979" cy="6177658"/>
          </a:xfrm>
          <a:custGeom>
            <a:avLst/>
            <a:gdLst/>
            <a:ahLst/>
            <a:cxnLst/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26747"/>
            <a:ext cx="9144000" cy="23876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bg1"/>
                </a:solidFill>
                <a:ea typeface="+mj-lt"/>
                <a:cs typeface="+mj-lt"/>
              </a:rPr>
              <a:t>Superstore Sales Performance Analysis</a:t>
            </a:r>
            <a:endParaRPr lang="en-US" sz="80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27080"/>
            <a:ext cx="9144000" cy="119732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ea typeface="+mn-lt"/>
                <a:cs typeface="+mn-lt"/>
              </a:rPr>
              <a:t>Strategic Insights into Regional Sales, Segments, and Top Products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CB8EB4B-AFE9-41E8-95B0-F246E5740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650059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C5B6F-BA20-8898-5CD7-66A19776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6600">
                <a:solidFill>
                  <a:schemeClr val="bg1"/>
                </a:solidFill>
                <a:ea typeface="+mj-lt"/>
                <a:cs typeface="+mj-lt"/>
              </a:rPr>
              <a:t>Key Findings at a Glance</a:t>
            </a:r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0B0D-7C02-A045-C7C5-F6E29F7B6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u="sng" dirty="0">
                <a:ea typeface="+mn-lt"/>
                <a:cs typeface="+mn-lt"/>
              </a:rPr>
              <a:t>Regional Dominance:</a:t>
            </a:r>
            <a:r>
              <a:rPr lang="en-US" sz="2400" dirty="0">
                <a:ea typeface="+mn-lt"/>
                <a:cs typeface="+mn-lt"/>
              </a:rPr>
              <a:t> The West Region is currently the top revenue driver, outperforming other areas.</a:t>
            </a:r>
          </a:p>
          <a:p>
            <a:pPr>
              <a:lnSpc>
                <a:spcPct val="100000"/>
              </a:lnSpc>
            </a:pPr>
            <a:r>
              <a:rPr lang="en-US" sz="2400" b="1" u="sng" dirty="0">
                <a:ea typeface="+mn-lt"/>
                <a:cs typeface="+mn-lt"/>
              </a:rPr>
              <a:t>Segment Profitability:</a:t>
            </a:r>
            <a:r>
              <a:rPr lang="en-US" sz="2400" dirty="0">
                <a:ea typeface="+mn-lt"/>
                <a:cs typeface="+mn-lt"/>
              </a:rPr>
              <a:t> The "Consumer" segment generates the highest sales volume, but profitability varies across segments.</a:t>
            </a:r>
          </a:p>
          <a:p>
            <a:pPr>
              <a:lnSpc>
                <a:spcPct val="100000"/>
              </a:lnSpc>
            </a:pPr>
            <a:r>
              <a:rPr lang="en-US" sz="2400" b="1" u="sng" dirty="0">
                <a:ea typeface="+mn-lt"/>
                <a:cs typeface="+mn-lt"/>
              </a:rPr>
              <a:t>Top Products:</a:t>
            </a:r>
            <a:r>
              <a:rPr lang="en-US" sz="2400" dirty="0">
                <a:ea typeface="+mn-lt"/>
                <a:cs typeface="+mn-lt"/>
              </a:rPr>
              <a:t> "Phones" and "Chairs" are the leading sub-categories, contributing significantly to overall revenue.</a:t>
            </a:r>
          </a:p>
          <a:p>
            <a:pPr>
              <a:lnSpc>
                <a:spcPct val="100000"/>
              </a:lnSpc>
            </a:pPr>
            <a:r>
              <a:rPr lang="en-US" sz="2400" b="1" u="sng" dirty="0">
                <a:ea typeface="+mn-lt"/>
                <a:cs typeface="+mn-lt"/>
              </a:rPr>
              <a:t>Recommendation:</a:t>
            </a:r>
            <a:r>
              <a:rPr lang="en-US" sz="2400" dirty="0">
                <a:ea typeface="+mn-lt"/>
                <a:cs typeface="+mn-lt"/>
              </a:rPr>
              <a:t> Focus marketing efforts on the West region and optimize inventory for high-demand sub-categories like Phones.</a:t>
            </a:r>
            <a:endParaRPr lang="en-US" sz="240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99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FE29B-8CA6-C251-89C9-BE236502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>
                <a:ea typeface="+mj-lt"/>
                <a:cs typeface="+mj-lt"/>
              </a:rPr>
              <a:t>Tech Stack &amp; Workflow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A2B8-D4DA-D26F-C101-596FC4E1E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lvl="1"/>
            <a:r>
              <a:rPr lang="en-US" b="1" dirty="0">
                <a:ea typeface="+mn-lt"/>
                <a:cs typeface="+mn-lt"/>
              </a:rPr>
              <a:t>Data Source:</a:t>
            </a:r>
            <a:r>
              <a:rPr lang="en-US" dirty="0">
                <a:ea typeface="+mn-lt"/>
                <a:cs typeface="+mn-lt"/>
              </a:rPr>
              <a:t> Sample Superstore Dataset.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SQL (Google </a:t>
            </a:r>
            <a:r>
              <a:rPr lang="en-US" b="1" dirty="0" err="1">
                <a:ea typeface="+mn-lt"/>
                <a:cs typeface="+mn-lt"/>
              </a:rPr>
              <a:t>BigQuery</a:t>
            </a:r>
            <a:r>
              <a:rPr lang="en-US" b="1" dirty="0">
                <a:ea typeface="+mn-lt"/>
                <a:cs typeface="+mn-lt"/>
              </a:rPr>
              <a:t>):</a:t>
            </a:r>
            <a:r>
              <a:rPr lang="en-US" dirty="0">
                <a:ea typeface="+mn-lt"/>
                <a:cs typeface="+mn-lt"/>
              </a:rPr>
              <a:t> Used for data extraction, cleaning, and aggregation.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Tableau:</a:t>
            </a:r>
            <a:r>
              <a:rPr lang="en-US" dirty="0">
                <a:ea typeface="+mn-lt"/>
                <a:cs typeface="+mn-lt"/>
              </a:rPr>
              <a:t> Used for data visualization and trend analysis.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Process: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Uploaded raw CSV data to </a:t>
            </a:r>
            <a:r>
              <a:rPr lang="en-US" dirty="0" err="1">
                <a:ea typeface="+mn-lt"/>
                <a:cs typeface="+mn-lt"/>
              </a:rPr>
              <a:t>BigQuery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Executed SQL queries to aggregate sales by Region, Segment, and Category.</a:t>
            </a:r>
            <a:endParaRPr lang="en-US" dirty="0"/>
          </a:p>
          <a:p>
            <a:pPr lvl="2"/>
            <a:r>
              <a:rPr lang="en-US" dirty="0">
                <a:ea typeface="+mn-lt"/>
                <a:cs typeface="+mn-lt"/>
              </a:rPr>
              <a:t>Exported processed data to Tableau for final visualization.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8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7AD26-06CA-DDDB-9DEE-22847EC9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ea typeface="+mj-lt"/>
                <a:cs typeface="+mj-lt"/>
              </a:rPr>
              <a:t>Data Extraction via SQL</a:t>
            </a:r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25450 w 3291840"/>
              <a:gd name="csY1" fmla="*/ 0 h 18288"/>
              <a:gd name="csX2" fmla="*/ 1283818 w 3291840"/>
              <a:gd name="csY2" fmla="*/ 0 h 18288"/>
              <a:gd name="csX3" fmla="*/ 1975104 w 3291840"/>
              <a:gd name="csY3" fmla="*/ 0 h 18288"/>
              <a:gd name="csX4" fmla="*/ 2666390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567635 w 3291840"/>
              <a:gd name="csY7" fmla="*/ 18288 h 18288"/>
              <a:gd name="csX8" fmla="*/ 1843430 w 3291840"/>
              <a:gd name="csY8" fmla="*/ 18288 h 18288"/>
              <a:gd name="csX9" fmla="*/ 1185062 w 3291840"/>
              <a:gd name="csY9" fmla="*/ 18288 h 18288"/>
              <a:gd name="csX10" fmla="*/ 0 w 3291840"/>
              <a:gd name="csY10" fmla="*/ 18288 h 18288"/>
              <a:gd name="csX11" fmla="*/ 0 w 329184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B153"/>
          </a:solidFill>
          <a:ln w="38100" cap="rnd">
            <a:solidFill>
              <a:srgbClr val="FFB153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ED551-D5C0-EC3C-4C29-FE2934C16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Below is an example of the SQL query used to analyze Regional Sales performance.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Caption: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i="1" dirty="0">
                <a:ea typeface="+mn-lt"/>
                <a:cs typeface="+mn-lt"/>
              </a:rPr>
              <a:t>Query: Aggregating Total Sales and Profit by Region.</a:t>
            </a:r>
            <a:endParaRPr lang="en-US" sz="2400" dirty="0"/>
          </a:p>
          <a:p>
            <a:endParaRPr lang="en-US"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D21DA0-AE2E-80BC-2AF3-0154B8BE0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92922"/>
            <a:ext cx="6903720" cy="307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9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332AA-2766-AB0D-FA4C-8865F5CE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ea typeface="+mj-lt"/>
                <a:cs typeface="+mj-lt"/>
              </a:rPr>
              <a:t>Sales Performance by Region</a:t>
            </a:r>
            <a:endParaRPr lang="en-US" sz="460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25450 w 3291840"/>
              <a:gd name="csY1" fmla="*/ 0 h 18288"/>
              <a:gd name="csX2" fmla="*/ 1283818 w 3291840"/>
              <a:gd name="csY2" fmla="*/ 0 h 18288"/>
              <a:gd name="csX3" fmla="*/ 1975104 w 3291840"/>
              <a:gd name="csY3" fmla="*/ 0 h 18288"/>
              <a:gd name="csX4" fmla="*/ 2666390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567635 w 3291840"/>
              <a:gd name="csY7" fmla="*/ 18288 h 18288"/>
              <a:gd name="csX8" fmla="*/ 1843430 w 3291840"/>
              <a:gd name="csY8" fmla="*/ 18288 h 18288"/>
              <a:gd name="csX9" fmla="*/ 1185062 w 3291840"/>
              <a:gd name="csY9" fmla="*/ 18288 h 18288"/>
              <a:gd name="csX10" fmla="*/ 0 w 3291840"/>
              <a:gd name="csY10" fmla="*/ 18288 h 18288"/>
              <a:gd name="csX11" fmla="*/ 0 w 329184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51A2FC"/>
          </a:solidFill>
          <a:ln w="38100" cap="rnd">
            <a:solidFill>
              <a:srgbClr val="51A2FC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66FA-D687-D83A-E089-B06D28AD7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2400" b="1"/>
          </a:p>
          <a:p>
            <a:pPr>
              <a:lnSpc>
                <a:spcPct val="100000"/>
              </a:lnSpc>
            </a:pPr>
            <a:r>
              <a:rPr lang="en-US" sz="2400" b="1" dirty="0">
                <a:ea typeface="+mn-lt"/>
                <a:cs typeface="+mn-lt"/>
              </a:rPr>
              <a:t>Insight: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 b="1">
                <a:ea typeface="+mn-lt"/>
                <a:cs typeface="+mn-lt"/>
              </a:rPr>
              <a:t>West</a:t>
            </a:r>
            <a:r>
              <a:rPr lang="en-US" sz="2400">
                <a:ea typeface="+mn-lt"/>
                <a:cs typeface="+mn-lt"/>
              </a:rPr>
              <a:t> region leads in total sales, followed closely by the </a:t>
            </a:r>
            <a:r>
              <a:rPr lang="en-US" sz="2400" b="1">
                <a:ea typeface="+mn-lt"/>
                <a:cs typeface="+mn-lt"/>
              </a:rPr>
              <a:t>East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pPr>
              <a:lnSpc>
                <a:spcPct val="100000"/>
              </a:lnSpc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 b="1">
                <a:ea typeface="+mn-lt"/>
                <a:cs typeface="+mn-lt"/>
              </a:rPr>
              <a:t>South</a:t>
            </a:r>
            <a:r>
              <a:rPr lang="en-US" sz="2400">
                <a:ea typeface="+mn-lt"/>
                <a:cs typeface="+mn-lt"/>
              </a:rPr>
              <a:t> region currently has the lowest sales volume, indicating a potential area for targeted marketing campaigns to boost growth.</a:t>
            </a:r>
            <a:endParaRPr lang="en-US" sz="2400"/>
          </a:p>
          <a:p>
            <a:pPr>
              <a:lnSpc>
                <a:spcPct val="100000"/>
              </a:lnSpc>
            </a:pPr>
            <a:endParaRPr lang="en-US"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graph of sales by region&#10;&#10;AI-generated content may be incorrect.">
            <a:extLst>
              <a:ext uri="{FF2B5EF4-FFF2-40B4-BE49-F238E27FC236}">
                <a16:creationId xmlns:a16="http://schemas.microsoft.com/office/drawing/2014/main" id="{0D919F92-44D9-C23A-7FB4-DED84641E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064476"/>
            <a:ext cx="6903720" cy="472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9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BB2BC-6153-48CA-A549-7BF1DEEA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Profit Analysis by Customer Segment</a:t>
            </a:r>
            <a:endParaRPr lang="en-US" sz="720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1817073"/>
            <a:ext cx="11018520" cy="18288"/>
          </a:xfrm>
          <a:custGeom>
            <a:avLst/>
            <a:gdLst>
              <a:gd name="csX0" fmla="*/ 0 w 11018520"/>
              <a:gd name="csY0" fmla="*/ 0 h 18288"/>
              <a:gd name="csX1" fmla="*/ 468287 w 11018520"/>
              <a:gd name="csY1" fmla="*/ 0 h 18288"/>
              <a:gd name="csX2" fmla="*/ 1156945 w 11018520"/>
              <a:gd name="csY2" fmla="*/ 0 h 18288"/>
              <a:gd name="csX3" fmla="*/ 1955787 w 11018520"/>
              <a:gd name="csY3" fmla="*/ 0 h 18288"/>
              <a:gd name="csX4" fmla="*/ 2313889 w 11018520"/>
              <a:gd name="csY4" fmla="*/ 0 h 18288"/>
              <a:gd name="csX5" fmla="*/ 2671991 w 11018520"/>
              <a:gd name="csY5" fmla="*/ 0 h 18288"/>
              <a:gd name="csX6" fmla="*/ 3581019 w 11018520"/>
              <a:gd name="csY6" fmla="*/ 0 h 18288"/>
              <a:gd name="csX7" fmla="*/ 4269677 w 11018520"/>
              <a:gd name="csY7" fmla="*/ 0 h 18288"/>
              <a:gd name="csX8" fmla="*/ 4627778 w 11018520"/>
              <a:gd name="csY8" fmla="*/ 0 h 18288"/>
              <a:gd name="csX9" fmla="*/ 5316436 w 11018520"/>
              <a:gd name="csY9" fmla="*/ 0 h 18288"/>
              <a:gd name="csX10" fmla="*/ 6225464 w 11018520"/>
              <a:gd name="csY10" fmla="*/ 0 h 18288"/>
              <a:gd name="csX11" fmla="*/ 6803936 w 11018520"/>
              <a:gd name="csY11" fmla="*/ 0 h 18288"/>
              <a:gd name="csX12" fmla="*/ 7382408 w 11018520"/>
              <a:gd name="csY12" fmla="*/ 0 h 18288"/>
              <a:gd name="csX13" fmla="*/ 8071066 w 11018520"/>
              <a:gd name="csY13" fmla="*/ 0 h 18288"/>
              <a:gd name="csX14" fmla="*/ 8869909 w 11018520"/>
              <a:gd name="csY14" fmla="*/ 0 h 18288"/>
              <a:gd name="csX15" fmla="*/ 9668751 w 11018520"/>
              <a:gd name="csY15" fmla="*/ 0 h 18288"/>
              <a:gd name="csX16" fmla="*/ 11018520 w 11018520"/>
              <a:gd name="csY16" fmla="*/ 0 h 18288"/>
              <a:gd name="csX17" fmla="*/ 11018520 w 11018520"/>
              <a:gd name="csY17" fmla="*/ 18288 h 18288"/>
              <a:gd name="csX18" fmla="*/ 10550233 w 11018520"/>
              <a:gd name="csY18" fmla="*/ 18288 h 18288"/>
              <a:gd name="csX19" fmla="*/ 9641205 w 11018520"/>
              <a:gd name="csY19" fmla="*/ 18288 h 18288"/>
              <a:gd name="csX20" fmla="*/ 8952548 w 11018520"/>
              <a:gd name="csY20" fmla="*/ 18288 h 18288"/>
              <a:gd name="csX21" fmla="*/ 8594446 w 11018520"/>
              <a:gd name="csY21" fmla="*/ 18288 h 18288"/>
              <a:gd name="csX22" fmla="*/ 7905788 w 11018520"/>
              <a:gd name="csY22" fmla="*/ 18288 h 18288"/>
              <a:gd name="csX23" fmla="*/ 7327316 w 11018520"/>
              <a:gd name="csY23" fmla="*/ 18288 h 18288"/>
              <a:gd name="csX24" fmla="*/ 6748844 w 11018520"/>
              <a:gd name="csY24" fmla="*/ 18288 h 18288"/>
              <a:gd name="csX25" fmla="*/ 6170371 w 11018520"/>
              <a:gd name="csY25" fmla="*/ 18288 h 18288"/>
              <a:gd name="csX26" fmla="*/ 5591899 w 11018520"/>
              <a:gd name="csY26" fmla="*/ 18288 h 18288"/>
              <a:gd name="csX27" fmla="*/ 4793056 w 11018520"/>
              <a:gd name="csY27" fmla="*/ 18288 h 18288"/>
              <a:gd name="csX28" fmla="*/ 4104399 w 11018520"/>
              <a:gd name="csY28" fmla="*/ 18288 h 18288"/>
              <a:gd name="csX29" fmla="*/ 3746297 w 11018520"/>
              <a:gd name="csY29" fmla="*/ 18288 h 18288"/>
              <a:gd name="csX30" fmla="*/ 3167825 w 11018520"/>
              <a:gd name="csY30" fmla="*/ 18288 h 18288"/>
              <a:gd name="csX31" fmla="*/ 2368982 w 11018520"/>
              <a:gd name="csY31" fmla="*/ 18288 h 18288"/>
              <a:gd name="csX32" fmla="*/ 1900695 w 11018520"/>
              <a:gd name="csY32" fmla="*/ 18288 h 18288"/>
              <a:gd name="csX33" fmla="*/ 991667 w 11018520"/>
              <a:gd name="csY33" fmla="*/ 18288 h 18288"/>
              <a:gd name="csX34" fmla="*/ 0 w 11018520"/>
              <a:gd name="csY34" fmla="*/ 18288 h 18288"/>
              <a:gd name="csX35" fmla="*/ 0 w 11018520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1018520" h="18288" fill="none" extrusionOk="0">
                <a:moveTo>
                  <a:pt x="0" y="0"/>
                </a:moveTo>
                <a:cubicBezTo>
                  <a:pt x="176840" y="19448"/>
                  <a:pt x="369510" y="1686"/>
                  <a:pt x="468287" y="0"/>
                </a:cubicBezTo>
                <a:cubicBezTo>
                  <a:pt x="567064" y="-1686"/>
                  <a:pt x="844925" y="28710"/>
                  <a:pt x="1156945" y="0"/>
                </a:cubicBezTo>
                <a:cubicBezTo>
                  <a:pt x="1468965" y="-28710"/>
                  <a:pt x="1755775" y="35306"/>
                  <a:pt x="1955787" y="0"/>
                </a:cubicBezTo>
                <a:cubicBezTo>
                  <a:pt x="2155799" y="-35306"/>
                  <a:pt x="2224532" y="-16632"/>
                  <a:pt x="2313889" y="0"/>
                </a:cubicBezTo>
                <a:cubicBezTo>
                  <a:pt x="2403246" y="16632"/>
                  <a:pt x="2494050" y="6083"/>
                  <a:pt x="2671991" y="0"/>
                </a:cubicBezTo>
                <a:cubicBezTo>
                  <a:pt x="2849932" y="-6083"/>
                  <a:pt x="3354152" y="34614"/>
                  <a:pt x="3581019" y="0"/>
                </a:cubicBezTo>
                <a:cubicBezTo>
                  <a:pt x="3807886" y="-34614"/>
                  <a:pt x="4022451" y="14254"/>
                  <a:pt x="4269677" y="0"/>
                </a:cubicBezTo>
                <a:cubicBezTo>
                  <a:pt x="4516903" y="-14254"/>
                  <a:pt x="4514495" y="-13291"/>
                  <a:pt x="4627778" y="0"/>
                </a:cubicBezTo>
                <a:cubicBezTo>
                  <a:pt x="4741061" y="13291"/>
                  <a:pt x="5120758" y="-22660"/>
                  <a:pt x="5316436" y="0"/>
                </a:cubicBezTo>
                <a:cubicBezTo>
                  <a:pt x="5512114" y="22660"/>
                  <a:pt x="5812155" y="-9513"/>
                  <a:pt x="6225464" y="0"/>
                </a:cubicBezTo>
                <a:cubicBezTo>
                  <a:pt x="6638773" y="9513"/>
                  <a:pt x="6545417" y="2479"/>
                  <a:pt x="6803936" y="0"/>
                </a:cubicBezTo>
                <a:cubicBezTo>
                  <a:pt x="7062455" y="-2479"/>
                  <a:pt x="7245098" y="-20209"/>
                  <a:pt x="7382408" y="0"/>
                </a:cubicBezTo>
                <a:cubicBezTo>
                  <a:pt x="7519718" y="20209"/>
                  <a:pt x="7801947" y="19736"/>
                  <a:pt x="8071066" y="0"/>
                </a:cubicBezTo>
                <a:cubicBezTo>
                  <a:pt x="8340185" y="-19736"/>
                  <a:pt x="8495312" y="-6666"/>
                  <a:pt x="8869909" y="0"/>
                </a:cubicBezTo>
                <a:cubicBezTo>
                  <a:pt x="9244506" y="6666"/>
                  <a:pt x="9501461" y="-13745"/>
                  <a:pt x="9668751" y="0"/>
                </a:cubicBezTo>
                <a:cubicBezTo>
                  <a:pt x="9836041" y="13745"/>
                  <a:pt x="10607605" y="14143"/>
                  <a:pt x="11018520" y="0"/>
                </a:cubicBezTo>
                <a:cubicBezTo>
                  <a:pt x="11019166" y="4451"/>
                  <a:pt x="11019010" y="9226"/>
                  <a:pt x="11018520" y="18288"/>
                </a:cubicBezTo>
                <a:cubicBezTo>
                  <a:pt x="10834966" y="15274"/>
                  <a:pt x="10754561" y="35250"/>
                  <a:pt x="10550233" y="18288"/>
                </a:cubicBezTo>
                <a:cubicBezTo>
                  <a:pt x="10345905" y="1326"/>
                  <a:pt x="9906342" y="45884"/>
                  <a:pt x="9641205" y="18288"/>
                </a:cubicBezTo>
                <a:cubicBezTo>
                  <a:pt x="9376068" y="-9308"/>
                  <a:pt x="9177188" y="43988"/>
                  <a:pt x="8952548" y="18288"/>
                </a:cubicBezTo>
                <a:cubicBezTo>
                  <a:pt x="8727908" y="-7412"/>
                  <a:pt x="8707007" y="3271"/>
                  <a:pt x="8594446" y="18288"/>
                </a:cubicBezTo>
                <a:cubicBezTo>
                  <a:pt x="8481885" y="33305"/>
                  <a:pt x="8175004" y="35109"/>
                  <a:pt x="7905788" y="18288"/>
                </a:cubicBezTo>
                <a:cubicBezTo>
                  <a:pt x="7636572" y="1467"/>
                  <a:pt x="7535638" y="7399"/>
                  <a:pt x="7327316" y="18288"/>
                </a:cubicBezTo>
                <a:cubicBezTo>
                  <a:pt x="7118994" y="29177"/>
                  <a:pt x="6978247" y="47205"/>
                  <a:pt x="6748844" y="18288"/>
                </a:cubicBezTo>
                <a:cubicBezTo>
                  <a:pt x="6519441" y="-10629"/>
                  <a:pt x="6459241" y="43308"/>
                  <a:pt x="6170371" y="18288"/>
                </a:cubicBezTo>
                <a:cubicBezTo>
                  <a:pt x="5881501" y="-6732"/>
                  <a:pt x="5736201" y="35971"/>
                  <a:pt x="5591899" y="18288"/>
                </a:cubicBezTo>
                <a:cubicBezTo>
                  <a:pt x="5447597" y="605"/>
                  <a:pt x="4990303" y="20409"/>
                  <a:pt x="4793056" y="18288"/>
                </a:cubicBezTo>
                <a:cubicBezTo>
                  <a:pt x="4595809" y="16167"/>
                  <a:pt x="4271723" y="2909"/>
                  <a:pt x="4104399" y="18288"/>
                </a:cubicBezTo>
                <a:cubicBezTo>
                  <a:pt x="3937075" y="33667"/>
                  <a:pt x="3923235" y="10730"/>
                  <a:pt x="3746297" y="18288"/>
                </a:cubicBezTo>
                <a:cubicBezTo>
                  <a:pt x="3569359" y="25846"/>
                  <a:pt x="3351081" y="24702"/>
                  <a:pt x="3167825" y="18288"/>
                </a:cubicBezTo>
                <a:cubicBezTo>
                  <a:pt x="2984569" y="11874"/>
                  <a:pt x="2708033" y="13293"/>
                  <a:pt x="2368982" y="18288"/>
                </a:cubicBezTo>
                <a:cubicBezTo>
                  <a:pt x="2029931" y="23283"/>
                  <a:pt x="2009060" y="37671"/>
                  <a:pt x="1900695" y="18288"/>
                </a:cubicBezTo>
                <a:cubicBezTo>
                  <a:pt x="1792330" y="-1095"/>
                  <a:pt x="1183178" y="9337"/>
                  <a:pt x="991667" y="18288"/>
                </a:cubicBezTo>
                <a:cubicBezTo>
                  <a:pt x="800156" y="27239"/>
                  <a:pt x="375690" y="34110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1018520" h="18288" stroke="0" extrusionOk="0">
                <a:moveTo>
                  <a:pt x="0" y="0"/>
                </a:moveTo>
                <a:cubicBezTo>
                  <a:pt x="266588" y="-23405"/>
                  <a:pt x="350503" y="-27031"/>
                  <a:pt x="578472" y="0"/>
                </a:cubicBezTo>
                <a:cubicBezTo>
                  <a:pt x="806441" y="27031"/>
                  <a:pt x="803976" y="13604"/>
                  <a:pt x="936574" y="0"/>
                </a:cubicBezTo>
                <a:cubicBezTo>
                  <a:pt x="1069172" y="-13604"/>
                  <a:pt x="1661335" y="-31902"/>
                  <a:pt x="1845602" y="0"/>
                </a:cubicBezTo>
                <a:cubicBezTo>
                  <a:pt x="2029869" y="31902"/>
                  <a:pt x="2273452" y="17005"/>
                  <a:pt x="2424074" y="0"/>
                </a:cubicBezTo>
                <a:cubicBezTo>
                  <a:pt x="2574696" y="-17005"/>
                  <a:pt x="2790864" y="-28133"/>
                  <a:pt x="3002547" y="0"/>
                </a:cubicBezTo>
                <a:cubicBezTo>
                  <a:pt x="3214230" y="28133"/>
                  <a:pt x="3605033" y="-14934"/>
                  <a:pt x="3911575" y="0"/>
                </a:cubicBezTo>
                <a:cubicBezTo>
                  <a:pt x="4218117" y="14934"/>
                  <a:pt x="4198004" y="3604"/>
                  <a:pt x="4379862" y="0"/>
                </a:cubicBezTo>
                <a:cubicBezTo>
                  <a:pt x="4561720" y="-3604"/>
                  <a:pt x="4941151" y="-37368"/>
                  <a:pt x="5288890" y="0"/>
                </a:cubicBezTo>
                <a:cubicBezTo>
                  <a:pt x="5636629" y="37368"/>
                  <a:pt x="6011513" y="-33898"/>
                  <a:pt x="6197918" y="0"/>
                </a:cubicBezTo>
                <a:cubicBezTo>
                  <a:pt x="6384323" y="33898"/>
                  <a:pt x="6555799" y="11241"/>
                  <a:pt x="6886575" y="0"/>
                </a:cubicBezTo>
                <a:cubicBezTo>
                  <a:pt x="7217351" y="-11241"/>
                  <a:pt x="7604472" y="-44614"/>
                  <a:pt x="7795603" y="0"/>
                </a:cubicBezTo>
                <a:cubicBezTo>
                  <a:pt x="7986734" y="44614"/>
                  <a:pt x="8098870" y="-11086"/>
                  <a:pt x="8374075" y="0"/>
                </a:cubicBezTo>
                <a:cubicBezTo>
                  <a:pt x="8649280" y="11086"/>
                  <a:pt x="8701749" y="-25020"/>
                  <a:pt x="8952548" y="0"/>
                </a:cubicBezTo>
                <a:cubicBezTo>
                  <a:pt x="9203347" y="25020"/>
                  <a:pt x="9519297" y="4274"/>
                  <a:pt x="9751390" y="0"/>
                </a:cubicBezTo>
                <a:cubicBezTo>
                  <a:pt x="9983483" y="-4274"/>
                  <a:pt x="10169881" y="16480"/>
                  <a:pt x="10329863" y="0"/>
                </a:cubicBezTo>
                <a:cubicBezTo>
                  <a:pt x="10489845" y="-16480"/>
                  <a:pt x="10750941" y="-9727"/>
                  <a:pt x="11018520" y="0"/>
                </a:cubicBezTo>
                <a:cubicBezTo>
                  <a:pt x="11018113" y="8690"/>
                  <a:pt x="11018366" y="14141"/>
                  <a:pt x="11018520" y="18288"/>
                </a:cubicBezTo>
                <a:cubicBezTo>
                  <a:pt x="10841176" y="-3597"/>
                  <a:pt x="10399304" y="41504"/>
                  <a:pt x="10219677" y="18288"/>
                </a:cubicBezTo>
                <a:cubicBezTo>
                  <a:pt x="10040050" y="-4928"/>
                  <a:pt x="10030762" y="16144"/>
                  <a:pt x="9861575" y="18288"/>
                </a:cubicBezTo>
                <a:cubicBezTo>
                  <a:pt x="9692388" y="20432"/>
                  <a:pt x="9529439" y="40380"/>
                  <a:pt x="9393288" y="18288"/>
                </a:cubicBezTo>
                <a:cubicBezTo>
                  <a:pt x="9257137" y="-3804"/>
                  <a:pt x="8825003" y="25592"/>
                  <a:pt x="8484260" y="18288"/>
                </a:cubicBezTo>
                <a:cubicBezTo>
                  <a:pt x="8143517" y="10984"/>
                  <a:pt x="8082894" y="45968"/>
                  <a:pt x="7795603" y="18288"/>
                </a:cubicBezTo>
                <a:cubicBezTo>
                  <a:pt x="7508312" y="-9392"/>
                  <a:pt x="7466074" y="19486"/>
                  <a:pt x="7327316" y="18288"/>
                </a:cubicBezTo>
                <a:cubicBezTo>
                  <a:pt x="7188558" y="17090"/>
                  <a:pt x="6869645" y="4657"/>
                  <a:pt x="6638658" y="18288"/>
                </a:cubicBezTo>
                <a:cubicBezTo>
                  <a:pt x="6407671" y="31919"/>
                  <a:pt x="6359238" y="35967"/>
                  <a:pt x="6280556" y="18288"/>
                </a:cubicBezTo>
                <a:cubicBezTo>
                  <a:pt x="6201874" y="609"/>
                  <a:pt x="6041216" y="22404"/>
                  <a:pt x="5922455" y="18288"/>
                </a:cubicBezTo>
                <a:cubicBezTo>
                  <a:pt x="5803694" y="14172"/>
                  <a:pt x="5555521" y="48848"/>
                  <a:pt x="5233797" y="18288"/>
                </a:cubicBezTo>
                <a:cubicBezTo>
                  <a:pt x="4912073" y="-12272"/>
                  <a:pt x="4986440" y="-2740"/>
                  <a:pt x="4765510" y="18288"/>
                </a:cubicBezTo>
                <a:cubicBezTo>
                  <a:pt x="4544580" y="39316"/>
                  <a:pt x="4177715" y="18248"/>
                  <a:pt x="3966667" y="18288"/>
                </a:cubicBezTo>
                <a:cubicBezTo>
                  <a:pt x="3755619" y="18328"/>
                  <a:pt x="3664519" y="22387"/>
                  <a:pt x="3498380" y="18288"/>
                </a:cubicBezTo>
                <a:cubicBezTo>
                  <a:pt x="3332241" y="14189"/>
                  <a:pt x="3065858" y="-7524"/>
                  <a:pt x="2699537" y="18288"/>
                </a:cubicBezTo>
                <a:cubicBezTo>
                  <a:pt x="2333216" y="44100"/>
                  <a:pt x="2505666" y="4650"/>
                  <a:pt x="2341436" y="18288"/>
                </a:cubicBezTo>
                <a:cubicBezTo>
                  <a:pt x="2177206" y="31926"/>
                  <a:pt x="1790164" y="19880"/>
                  <a:pt x="1542593" y="18288"/>
                </a:cubicBezTo>
                <a:cubicBezTo>
                  <a:pt x="1295022" y="16696"/>
                  <a:pt x="1218012" y="39325"/>
                  <a:pt x="1074306" y="18288"/>
                </a:cubicBezTo>
                <a:cubicBezTo>
                  <a:pt x="930600" y="-2749"/>
                  <a:pt x="797266" y="24589"/>
                  <a:pt x="716204" y="18288"/>
                </a:cubicBezTo>
                <a:cubicBezTo>
                  <a:pt x="635142" y="11987"/>
                  <a:pt x="344503" y="4139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FF9212"/>
          </a:solidFill>
          <a:ln w="38100" cap="rnd">
            <a:solidFill>
              <a:srgbClr val="FF921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F1507-C059-8FD1-33B5-D7F5E7E2C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b="1"/>
          </a:p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Insight: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Consumer</a:t>
            </a:r>
            <a:r>
              <a:rPr lang="en-US" dirty="0">
                <a:ea typeface="+mn-lt"/>
                <a:cs typeface="+mn-lt"/>
              </a:rPr>
              <a:t> segment is the most profitable, indicating that individual buyers are the core revenue stream.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Corporate</a:t>
            </a:r>
            <a:r>
              <a:rPr lang="en-US" dirty="0">
                <a:ea typeface="+mn-lt"/>
                <a:cs typeface="+mn-lt"/>
              </a:rPr>
              <a:t> clients provide steady profit, while the </a:t>
            </a:r>
            <a:r>
              <a:rPr lang="en-US" b="1" dirty="0">
                <a:ea typeface="+mn-lt"/>
                <a:cs typeface="+mn-lt"/>
              </a:rPr>
              <a:t>Home Office</a:t>
            </a:r>
            <a:r>
              <a:rPr lang="en-US" dirty="0">
                <a:ea typeface="+mn-lt"/>
                <a:cs typeface="+mn-lt"/>
              </a:rPr>
              <a:t> segment is smaller but highly efficient.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Strategy:</a:t>
            </a:r>
            <a:r>
              <a:rPr lang="en-US" dirty="0">
                <a:ea typeface="+mn-lt"/>
                <a:cs typeface="+mn-lt"/>
              </a:rPr>
              <a:t> Maintain loyalty programs for Consumer clients while exploring B2B opportunities in the Corporate sector.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</p:txBody>
      </p:sp>
      <p:pic>
        <p:nvPicPr>
          <p:cNvPr id="4" name="Picture 3" descr="A graph of a profit by segment&#10;&#10;AI-generated content may be incorrect.">
            <a:extLst>
              <a:ext uri="{FF2B5EF4-FFF2-40B4-BE49-F238E27FC236}">
                <a16:creationId xmlns:a16="http://schemas.microsoft.com/office/drawing/2014/main" id="{8CED38D9-3A48-5628-6B67-CB9D0EA8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5" r="46349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6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7ABF-2014-F190-6A43-2041A401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419856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>
                <a:ea typeface="+mj-lt"/>
                <a:cs typeface="+mj-lt"/>
              </a:rPr>
              <a:t>Top 10 Best-Selling Sub-Categories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EEFB5-63A5-732F-68B4-ED03B24C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630936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endParaRPr lang="en-US" sz="1100" b="1"/>
          </a:p>
          <a:p>
            <a:pPr>
              <a:lnSpc>
                <a:spcPct val="100000"/>
              </a:lnSpc>
            </a:pPr>
            <a:r>
              <a:rPr lang="en-US" sz="1100" b="1" dirty="0">
                <a:ea typeface="+mn-lt"/>
                <a:cs typeface="+mn-lt"/>
              </a:rPr>
              <a:t>Insight: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>
                <a:ea typeface="+mn-lt"/>
                <a:cs typeface="+mn-lt"/>
              </a:rPr>
              <a:t>Phones</a:t>
            </a:r>
            <a:r>
              <a:rPr lang="en-US" sz="1100">
                <a:ea typeface="+mn-lt"/>
                <a:cs typeface="+mn-lt"/>
              </a:rPr>
              <a:t> and </a:t>
            </a:r>
            <a:r>
              <a:rPr lang="en-US" sz="1100" b="1">
                <a:ea typeface="+mn-lt"/>
                <a:cs typeface="+mn-lt"/>
              </a:rPr>
              <a:t>Chairs</a:t>
            </a:r>
            <a:r>
              <a:rPr lang="en-US" sz="1100">
                <a:ea typeface="+mn-lt"/>
                <a:cs typeface="+mn-lt"/>
              </a:rPr>
              <a:t> are the top-performing categories by revenue.</a:t>
            </a:r>
            <a:endParaRPr lang="en-US" sz="1100"/>
          </a:p>
          <a:p>
            <a:pPr>
              <a:lnSpc>
                <a:spcPct val="100000"/>
              </a:lnSpc>
            </a:pPr>
            <a:r>
              <a:rPr lang="en-US" sz="1100">
                <a:ea typeface="+mn-lt"/>
                <a:cs typeface="+mn-lt"/>
              </a:rPr>
              <a:t>Office supplies like </a:t>
            </a:r>
            <a:r>
              <a:rPr lang="en-US" sz="1100" b="1">
                <a:ea typeface="+mn-lt"/>
                <a:cs typeface="+mn-lt"/>
              </a:rPr>
              <a:t>Binders</a:t>
            </a:r>
            <a:r>
              <a:rPr lang="en-US" sz="1100">
                <a:ea typeface="+mn-lt"/>
                <a:cs typeface="+mn-lt"/>
              </a:rPr>
              <a:t> and </a:t>
            </a:r>
            <a:r>
              <a:rPr lang="en-US" sz="1100" b="1">
                <a:ea typeface="+mn-lt"/>
                <a:cs typeface="+mn-lt"/>
              </a:rPr>
              <a:t>Paper</a:t>
            </a:r>
            <a:r>
              <a:rPr lang="en-US" sz="1100">
                <a:ea typeface="+mn-lt"/>
                <a:cs typeface="+mn-lt"/>
              </a:rPr>
              <a:t> have high transaction volume but lower revenue per unit.</a:t>
            </a:r>
            <a:endParaRPr lang="en-US" sz="1100"/>
          </a:p>
          <a:p>
            <a:pPr>
              <a:lnSpc>
                <a:spcPct val="100000"/>
              </a:lnSpc>
            </a:pPr>
            <a:r>
              <a:rPr lang="en-US" sz="1100" b="1">
                <a:ea typeface="+mn-lt"/>
                <a:cs typeface="+mn-lt"/>
              </a:rPr>
              <a:t>Inventory Note:</a:t>
            </a:r>
            <a:r>
              <a:rPr lang="en-US" sz="1100">
                <a:ea typeface="+mn-lt"/>
                <a:cs typeface="+mn-lt"/>
              </a:rPr>
              <a:t> Ensure stock levels for Phones and Chairs are prioritized to prevent stockouts during peak seasons.</a:t>
            </a:r>
            <a:endParaRPr lang="en-US" sz="1100"/>
          </a:p>
          <a:p>
            <a:pPr>
              <a:lnSpc>
                <a:spcPct val="100000"/>
              </a:lnSpc>
            </a:pPr>
            <a:endParaRPr lang="en-US" sz="11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704088"/>
            <a:ext cx="18288" cy="1316736"/>
          </a:xfrm>
          <a:custGeom>
            <a:avLst/>
            <a:gdLst>
              <a:gd name="csX0" fmla="*/ 0 w 18288"/>
              <a:gd name="csY0" fmla="*/ 0 h 1316736"/>
              <a:gd name="csX1" fmla="*/ 18288 w 18288"/>
              <a:gd name="csY1" fmla="*/ 0 h 1316736"/>
              <a:gd name="csX2" fmla="*/ 18288 w 18288"/>
              <a:gd name="csY2" fmla="*/ 632033 h 1316736"/>
              <a:gd name="csX3" fmla="*/ 18288 w 18288"/>
              <a:gd name="csY3" fmla="*/ 1316736 h 1316736"/>
              <a:gd name="csX4" fmla="*/ 0 w 18288"/>
              <a:gd name="csY4" fmla="*/ 1316736 h 1316736"/>
              <a:gd name="csX5" fmla="*/ 0 w 18288"/>
              <a:gd name="csY5" fmla="*/ 671535 h 1316736"/>
              <a:gd name="csX6" fmla="*/ 0 w 18288"/>
              <a:gd name="csY6" fmla="*/ 0 h 13167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288" h="1316736" fill="none" extrusionOk="0">
                <a:moveTo>
                  <a:pt x="0" y="0"/>
                </a:moveTo>
                <a:cubicBezTo>
                  <a:pt x="5414" y="683"/>
                  <a:pt x="12510" y="720"/>
                  <a:pt x="18288" y="0"/>
                </a:cubicBezTo>
                <a:cubicBezTo>
                  <a:pt x="11385" y="276484"/>
                  <a:pt x="47354" y="495364"/>
                  <a:pt x="18288" y="632033"/>
                </a:cubicBezTo>
                <a:cubicBezTo>
                  <a:pt x="-10778" y="768702"/>
                  <a:pt x="26786" y="1005085"/>
                  <a:pt x="18288" y="1316736"/>
                </a:cubicBezTo>
                <a:cubicBezTo>
                  <a:pt x="9577" y="1315893"/>
                  <a:pt x="6900" y="1316365"/>
                  <a:pt x="0" y="1316736"/>
                </a:cubicBezTo>
                <a:cubicBezTo>
                  <a:pt x="-29997" y="1144491"/>
                  <a:pt x="20055" y="926108"/>
                  <a:pt x="0" y="671535"/>
                </a:cubicBezTo>
                <a:cubicBezTo>
                  <a:pt x="-20055" y="416962"/>
                  <a:pt x="15787" y="211813"/>
                  <a:pt x="0" y="0"/>
                </a:cubicBezTo>
                <a:close/>
              </a:path>
              <a:path w="18288" h="1316736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-6741" y="195124"/>
                  <a:pt x="36996" y="409062"/>
                  <a:pt x="18288" y="618866"/>
                </a:cubicBezTo>
                <a:cubicBezTo>
                  <a:pt x="-420" y="828670"/>
                  <a:pt x="28345" y="1144651"/>
                  <a:pt x="18288" y="1316736"/>
                </a:cubicBezTo>
                <a:cubicBezTo>
                  <a:pt x="10476" y="1317615"/>
                  <a:pt x="8805" y="1316987"/>
                  <a:pt x="0" y="1316736"/>
                </a:cubicBezTo>
                <a:cubicBezTo>
                  <a:pt x="30302" y="1053606"/>
                  <a:pt x="-1997" y="890047"/>
                  <a:pt x="0" y="671535"/>
                </a:cubicBezTo>
                <a:cubicBezTo>
                  <a:pt x="1997" y="453023"/>
                  <a:pt x="-25538" y="322042"/>
                  <a:pt x="0" y="0"/>
                </a:cubicBezTo>
                <a:close/>
              </a:path>
            </a:pathLst>
          </a:custGeom>
          <a:solidFill>
            <a:srgbClr val="79B8FC"/>
          </a:solidFill>
          <a:ln w="34925">
            <a:solidFill>
              <a:srgbClr val="79B8FC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bar chart&#10;&#10;AI-generated content may be incorrect.">
            <a:extLst>
              <a:ext uri="{FF2B5EF4-FFF2-40B4-BE49-F238E27FC236}">
                <a16:creationId xmlns:a16="http://schemas.microsoft.com/office/drawing/2014/main" id="{02D73746-BB2A-4458-CB10-C22D19815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7" y="2290936"/>
            <a:ext cx="10629134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1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4A99-2E45-6161-73CF-D33257CB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Strategic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6786E-5B75-403A-EE84-EB22BDC47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 b="1" dirty="0">
                <a:ea typeface="+mn-lt"/>
                <a:cs typeface="+mn-lt"/>
              </a:rPr>
              <a:t>Double Down on the West:</a:t>
            </a:r>
            <a:r>
              <a:rPr lang="en-US" dirty="0">
                <a:ea typeface="+mn-lt"/>
                <a:cs typeface="+mn-lt"/>
              </a:rPr>
              <a:t> Invest 60% of the marketing budget into the West and East regions where ROI is proven.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Product Focus:</a:t>
            </a:r>
            <a:r>
              <a:rPr lang="en-US" dirty="0">
                <a:ea typeface="+mn-lt"/>
                <a:cs typeface="+mn-lt"/>
              </a:rPr>
              <a:t> Bundle "Phones" with accessories to increase average order value.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Segment Growth:</a:t>
            </a:r>
            <a:r>
              <a:rPr lang="en-US" dirty="0">
                <a:ea typeface="+mn-lt"/>
                <a:cs typeface="+mn-lt"/>
              </a:rPr>
              <a:t> Launch a retention campaign for the "Consumer" segment to maximize lifetime value.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Call to Action:</a:t>
            </a:r>
            <a:r>
              <a:rPr lang="en-US" dirty="0">
                <a:ea typeface="+mn-lt"/>
                <a:cs typeface="+mn-lt"/>
              </a:rPr>
              <a:t> Further analysis recommended on "Discount Impact" to see if lowering discounts increases overall profit margins.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37097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SketchyVTI</vt:lpstr>
      <vt:lpstr>Superstore Sales Performance Analysis</vt:lpstr>
      <vt:lpstr>Key Findings at a Glance</vt:lpstr>
      <vt:lpstr>Tech Stack &amp; Workflow</vt:lpstr>
      <vt:lpstr>Data Extraction via SQL</vt:lpstr>
      <vt:lpstr>Sales Performance by Region</vt:lpstr>
      <vt:lpstr>Profit Analysis by Customer Segment</vt:lpstr>
      <vt:lpstr>Top 10 Best-Selling Sub-Categories</vt:lpstr>
      <vt:lpstr>Strategic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70</cp:revision>
  <dcterms:created xsi:type="dcterms:W3CDTF">2025-12-13T12:00:26Z</dcterms:created>
  <dcterms:modified xsi:type="dcterms:W3CDTF">2025-12-13T12:14:06Z</dcterms:modified>
</cp:coreProperties>
</file>